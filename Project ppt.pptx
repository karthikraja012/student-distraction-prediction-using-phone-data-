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C Diary Girl Bold" charset="1" panose="02000603000000000000"/>
      <p:regular r:id="rId23"/>
    </p:embeddedFont>
    <p:embeddedFont>
      <p:font typeface="Nunito" charset="1" panose="00000000000000000000"/>
      <p:regular r:id="rId24"/>
    </p:embeddedFont>
    <p:embeddedFont>
      <p:font typeface="AC Diary Girl" charset="1" panose="02000603000000000000"/>
      <p:regular r:id="rId25"/>
    </p:embeddedFont>
    <p:embeddedFont>
      <p:font typeface="Nunito Bold" charset="1" panose="00000000000000000000"/>
      <p:regular r:id="rId26"/>
    </p:embeddedFont>
    <p:embeddedFont>
      <p:font typeface="Canva Sans Bold" charset="1" panose="020B08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kaggle.com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https://scikit-learn.org" TargetMode="External" Type="http://schemas.openxmlformats.org/officeDocument/2006/relationships/hyperlink"/><Relationship Id="rId8" Target="https://pandas.pydata.org" TargetMode="External" Type="http://schemas.openxmlformats.org/officeDocument/2006/relationships/hyperlink"/><Relationship Id="rId9" Target="https://matplotlib.org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442">
            <a:off x="15813059" y="662227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43449" y="-2349387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56264" y="9258300"/>
            <a:ext cx="3434206" cy="630645"/>
          </a:xfrm>
          <a:custGeom>
            <a:avLst/>
            <a:gdLst/>
            <a:ahLst/>
            <a:cxnLst/>
            <a:rect r="r" b="b" t="t" l="l"/>
            <a:pathLst>
              <a:path h="630645" w="3434206">
                <a:moveTo>
                  <a:pt x="0" y="0"/>
                </a:moveTo>
                <a:lnTo>
                  <a:pt x="3434207" y="0"/>
                </a:lnTo>
                <a:lnTo>
                  <a:pt x="3434207" y="630645"/>
                </a:lnTo>
                <a:lnTo>
                  <a:pt x="0" y="630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7417">
            <a:off x="38586" y="7464054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699" y="0"/>
                </a:lnTo>
                <a:lnTo>
                  <a:pt x="3549699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82850" y="2423667"/>
            <a:ext cx="11010941" cy="417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2"/>
              </a:lnSpc>
            </a:pPr>
            <a:r>
              <a:rPr lang="en-US" sz="7830" b="true">
                <a:solidFill>
                  <a:srgbClr val="337271"/>
                </a:solidFill>
                <a:latin typeface="AC Diary Girl Bold"/>
                <a:ea typeface="AC Diary Girl Bold"/>
                <a:cs typeface="AC Diary Girl Bold"/>
                <a:sym typeface="AC Diary Girl Bold"/>
              </a:rPr>
              <a:t>Student Distraction Prediction Using Phone Usage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48839" y="7639554"/>
            <a:ext cx="962452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Presented by Karthik raja 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06063" y="8594173"/>
            <a:ext cx="7456955" cy="66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3"/>
              </a:lnSpc>
            </a:pPr>
            <a:r>
              <a:rPr lang="en-US" sz="3873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23BDA040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74662" y="1513901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4644" y="3886130"/>
            <a:ext cx="14855326" cy="410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569" indent="-313785" lvl="1">
              <a:lnSpc>
                <a:spcPts val="5522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Predicts student focus or distraction using phone usage data</a:t>
            </a:r>
          </a:p>
          <a:p>
            <a:pPr algn="l" marL="627569" indent="-313785" lvl="1">
              <a:lnSpc>
                <a:spcPts val="5522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Uses Logistic Regression (primary) and Decision Tree (alternative) models</a:t>
            </a:r>
          </a:p>
          <a:p>
            <a:pPr algn="l" marL="627569" indent="-313785" lvl="1">
              <a:lnSpc>
                <a:spcPts val="5522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Considers key features: screen time, unlocks, notifications, and study hours</a:t>
            </a:r>
          </a:p>
          <a:p>
            <a:pPr algn="l" marL="627569" indent="-313785" lvl="1">
              <a:lnSpc>
                <a:spcPts val="5522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Trained on a simulated dataset representing real phone activity</a:t>
            </a:r>
          </a:p>
          <a:p>
            <a:pPr algn="l" marL="627569" indent="-313785" lvl="1">
              <a:lnSpc>
                <a:spcPts val="5522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Aims to provide data-driven insights to improve student focus and digital balance</a:t>
            </a:r>
          </a:p>
          <a:p>
            <a:pPr algn="l">
              <a:lnSpc>
                <a:spcPts val="552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63173" y="771525"/>
            <a:ext cx="11701099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Problem Statement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108307" y="6172200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25143" y="-389831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524944"/>
            <a:ext cx="17035763" cy="499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5468" indent="-327734" lvl="1">
              <a:lnSpc>
                <a:spcPts val="5768"/>
              </a:lnSpc>
              <a:buFont typeface="Arial"/>
              <a:buChar char="•"/>
            </a:pPr>
            <a:r>
              <a:rPr lang="en-US" b="true" sz="30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Increased smartphone usage is causing distraction and reduced focus among students.</a:t>
            </a:r>
          </a:p>
          <a:p>
            <a:pPr algn="l" marL="655468" indent="-327734" lvl="1">
              <a:lnSpc>
                <a:spcPts val="5768"/>
              </a:lnSpc>
              <a:buFont typeface="Arial"/>
              <a:buChar char="•"/>
            </a:pPr>
            <a:r>
              <a:rPr lang="en-US" b="true" sz="30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Lack of a predictive system to identify distraction levels using behavioral data.</a:t>
            </a:r>
          </a:p>
          <a:p>
            <a:pPr algn="l" marL="655468" indent="-327734" lvl="1">
              <a:lnSpc>
                <a:spcPts val="5768"/>
              </a:lnSpc>
              <a:buFont typeface="Arial"/>
              <a:buChar char="•"/>
            </a:pPr>
            <a:r>
              <a:rPr lang="en-US" b="true" sz="30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The project aims to analyze phone usage patterns (screen time, app usage, notifications).</a:t>
            </a:r>
          </a:p>
          <a:p>
            <a:pPr algn="l" marL="655468" indent="-327734" lvl="1">
              <a:lnSpc>
                <a:spcPts val="5768"/>
              </a:lnSpc>
              <a:buFont typeface="Arial"/>
              <a:buChar char="•"/>
            </a:pPr>
            <a:r>
              <a:rPr lang="en-US" b="true" sz="30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Predicts whether a student is focused or distracted using data-driven modeling.</a:t>
            </a:r>
          </a:p>
          <a:p>
            <a:pPr algn="l" marL="655468" indent="-327734" lvl="1">
              <a:lnSpc>
                <a:spcPts val="5768"/>
              </a:lnSpc>
              <a:buFont typeface="Arial"/>
              <a:buChar char="•"/>
            </a:pPr>
            <a:r>
              <a:rPr lang="en-US" b="true" sz="30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Supports educational institutions in promoting digital wellness and academic improvement.</a:t>
            </a:r>
          </a:p>
          <a:p>
            <a:pPr algn="l">
              <a:lnSpc>
                <a:spcPts val="576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96206" y="1553084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Project Goals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06006" y="9057766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52237" y="4408338"/>
            <a:ext cx="17035763" cy="354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5468" indent="-327734" lvl="1">
              <a:lnSpc>
                <a:spcPts val="5768"/>
              </a:lnSpc>
              <a:buFont typeface="Arial"/>
              <a:buChar char="•"/>
            </a:pPr>
            <a:r>
              <a:rPr lang="en-US" b="true" sz="30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To develop a machine learning model that predicts student focus or distraction.</a:t>
            </a:r>
          </a:p>
          <a:p>
            <a:pPr algn="l" marL="655468" indent="-327734" lvl="1">
              <a:lnSpc>
                <a:spcPts val="5768"/>
              </a:lnSpc>
              <a:buFont typeface="Arial"/>
              <a:buChar char="•"/>
            </a:pPr>
            <a:r>
              <a:rPr lang="en-US" b="true" sz="30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To use students phone usage data for understanding digital behavior patterns.</a:t>
            </a:r>
          </a:p>
          <a:p>
            <a:pPr algn="l" marL="655468" indent="-327734" lvl="1">
              <a:lnSpc>
                <a:spcPts val="5768"/>
              </a:lnSpc>
              <a:buFont typeface="Arial"/>
              <a:buChar char="•"/>
            </a:pPr>
            <a:r>
              <a:rPr lang="en-US" b="true" sz="30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To provide data-driven insights that help students improve focus and reduce distractions.</a:t>
            </a:r>
          </a:p>
          <a:p>
            <a:pPr algn="l" marL="655468" indent="-327734" lvl="1">
              <a:lnSpc>
                <a:spcPts val="5768"/>
              </a:lnSpc>
              <a:buFont typeface="Arial"/>
              <a:buChar char="•"/>
            </a:pPr>
            <a:r>
              <a:rPr lang="en-US" b="true" sz="30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To promote digital wellness and support educational performance improvement.</a:t>
            </a:r>
          </a:p>
          <a:p>
            <a:pPr algn="l">
              <a:lnSpc>
                <a:spcPts val="576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483618" y="8212070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4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4" y="1646944"/>
                </a:lnTo>
                <a:lnTo>
                  <a:pt x="355136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38372" y="909198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 Methodology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746982" y="1028700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148726"/>
            <a:ext cx="16571663" cy="4590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569" indent="-313785" lvl="1">
              <a:lnSpc>
                <a:spcPts val="6191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Implements a Student Distraction Prediction System using phone activity data</a:t>
            </a:r>
          </a:p>
          <a:p>
            <a:pPr algn="l" marL="627569" indent="-313785" lvl="1">
              <a:lnSpc>
                <a:spcPts val="6191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Data collected through simulated datasets containing screen time, unlocks, and notifications</a:t>
            </a:r>
          </a:p>
          <a:p>
            <a:pPr algn="l" marL="627569" indent="-313785" lvl="1">
              <a:lnSpc>
                <a:spcPts val="6191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Performed data cleaning, scaling, and standardization for model readiness</a:t>
            </a:r>
          </a:p>
          <a:p>
            <a:pPr algn="l" marL="627569" indent="-313785" lvl="1">
              <a:lnSpc>
                <a:spcPts val="6191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Trained models using Logistic Regression (primary) and Random Forest (alternative)</a:t>
            </a:r>
          </a:p>
          <a:p>
            <a:pPr algn="l" marL="627569" indent="-313785" lvl="1">
              <a:lnSpc>
                <a:spcPts val="6191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Evaluated performance with confusion matrix and accuracy score (~99%)</a:t>
            </a:r>
          </a:p>
          <a:p>
            <a:pPr algn="l" marL="627569" indent="-313785" lvl="1">
              <a:lnSpc>
                <a:spcPts val="6191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Visualized insights using heatmaps, pie charts, and scatter plots to show focus trends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4456" y="369142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Workflow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25143" y="-389831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04456" y="2993909"/>
            <a:ext cx="3599298" cy="642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Data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Feature Engineering 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Target Creation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 </a:t>
            </a: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Model Training </a:t>
            </a:r>
          </a:p>
          <a:p>
            <a:pPr algn="l">
              <a:lnSpc>
                <a:spcPts val="3962"/>
              </a:lnSpc>
            </a:pP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Evaluation </a:t>
            </a:r>
          </a:p>
          <a:p>
            <a:pPr algn="l">
              <a:lnSpc>
                <a:spcPts val="3962"/>
              </a:lnSpc>
            </a:pP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Visualization </a:t>
            </a:r>
          </a:p>
          <a:p>
            <a:pPr algn="l">
              <a:lnSpc>
                <a:spcPts val="3962"/>
              </a:lnSpc>
            </a:pPr>
          </a:p>
          <a:p>
            <a:pPr algn="l">
              <a:lnSpc>
                <a:spcPts val="3962"/>
              </a:lnSpc>
            </a:pPr>
            <a:r>
              <a:rPr lang="en-US" sz="2830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Insights</a:t>
            </a:r>
          </a:p>
        </p:txBody>
      </p:sp>
      <p:sp>
        <p:nvSpPr>
          <p:cNvPr name="AutoShape 7" id="7"/>
          <p:cNvSpPr/>
          <p:nvPr/>
        </p:nvSpPr>
        <p:spPr>
          <a:xfrm>
            <a:off x="2080467" y="5596436"/>
            <a:ext cx="7272" cy="3822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2054148" y="4569832"/>
            <a:ext cx="7272" cy="3822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2027829" y="3534230"/>
            <a:ext cx="7272" cy="3822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2106786" y="6679575"/>
            <a:ext cx="7272" cy="3822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2125832" y="7694911"/>
            <a:ext cx="7272" cy="3822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2152151" y="8545511"/>
            <a:ext cx="7272" cy="3822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3" id="13"/>
          <p:cNvSpPr txBox="true"/>
          <p:nvPr/>
        </p:nvSpPr>
        <p:spPr>
          <a:xfrm rot="0">
            <a:off x="5179954" y="2961767"/>
            <a:ext cx="13982546" cy="5852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8"/>
              </a:lnSpc>
            </a:pPr>
            <a:r>
              <a:rPr lang="en-US" sz="2735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Process Summary</a:t>
            </a:r>
          </a:p>
          <a:p>
            <a:pPr algn="l" marL="590699" indent="-295350" lvl="1">
              <a:lnSpc>
                <a:spcPts val="5198"/>
              </a:lnSpc>
              <a:buFont typeface="Arial"/>
              <a:buChar char="•"/>
            </a:pPr>
            <a:r>
              <a:rPr lang="en-US" b="true" sz="27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Collect and clean data for consistency</a:t>
            </a:r>
          </a:p>
          <a:p>
            <a:pPr algn="l" marL="590699" indent="-295350" lvl="1">
              <a:lnSpc>
                <a:spcPts val="5198"/>
              </a:lnSpc>
              <a:buFont typeface="Arial"/>
              <a:buChar char="•"/>
            </a:pPr>
            <a:r>
              <a:rPr lang="en-US" b="true" sz="27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Engineer meaningful features like screen time, unlocks, and notifications</a:t>
            </a:r>
          </a:p>
          <a:p>
            <a:pPr algn="l" marL="590699" indent="-295350" lvl="1">
              <a:lnSpc>
                <a:spcPts val="5198"/>
              </a:lnSpc>
              <a:buFont typeface="Arial"/>
              <a:buChar char="•"/>
            </a:pPr>
            <a:r>
              <a:rPr lang="en-US" b="true" sz="27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Create a target variable indicating “Focused” or “Distracted”</a:t>
            </a:r>
          </a:p>
          <a:p>
            <a:pPr algn="l" marL="590699" indent="-295350" lvl="1">
              <a:lnSpc>
                <a:spcPts val="5198"/>
              </a:lnSpc>
              <a:buFont typeface="Arial"/>
              <a:buChar char="•"/>
            </a:pPr>
            <a:r>
              <a:rPr lang="en-US" b="true" sz="27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Train and test machine learning models (Logistic Regression &amp; Decision Tree)</a:t>
            </a:r>
          </a:p>
          <a:p>
            <a:pPr algn="l" marL="590699" indent="-295350" lvl="1">
              <a:lnSpc>
                <a:spcPts val="5198"/>
              </a:lnSpc>
              <a:buFont typeface="Arial"/>
              <a:buChar char="•"/>
            </a:pPr>
            <a:r>
              <a:rPr lang="en-US" b="true" sz="27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Evaluate accuracy and confusion matrix results</a:t>
            </a:r>
          </a:p>
          <a:p>
            <a:pPr algn="l" marL="590699" indent="-295350" lvl="1">
              <a:lnSpc>
                <a:spcPts val="5198"/>
              </a:lnSpc>
              <a:buFont typeface="Arial"/>
              <a:buChar char="•"/>
            </a:pPr>
            <a:r>
              <a:rPr lang="en-US" b="true" sz="27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Visualize outcomes using pie charts, bar graphs, and scatter plots</a:t>
            </a:r>
          </a:p>
          <a:p>
            <a:pPr algn="l" marL="590699" indent="-295350" lvl="1">
              <a:lnSpc>
                <a:spcPts val="5198"/>
              </a:lnSpc>
              <a:buFont typeface="Arial"/>
              <a:buChar char="•"/>
            </a:pPr>
            <a:r>
              <a:rPr lang="en-US" b="true" sz="2735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Generate actionable insights to help improve student focus</a:t>
            </a:r>
          </a:p>
          <a:p>
            <a:pPr algn="l">
              <a:lnSpc>
                <a:spcPts val="519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78709" y="637886"/>
            <a:ext cx="12229663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System Specification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247425" y="-2533940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26071" y="1028700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3760" y="3527045"/>
            <a:ext cx="16571663" cy="615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1"/>
              </a:lnSpc>
            </a:pPr>
            <a:r>
              <a:rPr lang="en-US" sz="2906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Hardware Requirements:</a:t>
            </a:r>
          </a:p>
          <a:p>
            <a:pPr algn="l" marL="627569" indent="-313785" lvl="1">
              <a:lnSpc>
                <a:spcPts val="6191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Standard PC/Laptop with minimum 8GB RAM, i5 processor, and Windows/Linux OS</a:t>
            </a:r>
          </a:p>
          <a:p>
            <a:pPr algn="l">
              <a:lnSpc>
                <a:spcPts val="6191"/>
              </a:lnSpc>
            </a:pPr>
            <a:r>
              <a:rPr lang="en-US" sz="2906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Software Requirements:</a:t>
            </a:r>
          </a:p>
          <a:p>
            <a:pPr algn="l" marL="627569" indent="-313785" lvl="1">
              <a:lnSpc>
                <a:spcPts val="6191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Python (Anaconda, Jupyter Notebook), Libraries — pandas, matplotlib, seaborn, scikit-learn</a:t>
            </a:r>
          </a:p>
          <a:p>
            <a:pPr algn="l">
              <a:lnSpc>
                <a:spcPts val="6191"/>
              </a:lnSpc>
            </a:pPr>
            <a:r>
              <a:rPr lang="en-US" sz="2906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Functional Requirements:</a:t>
            </a:r>
          </a:p>
          <a:p>
            <a:pPr algn="l" marL="627569" indent="-313785" lvl="1">
              <a:lnSpc>
                <a:spcPts val="6191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Process phone usage data, train ML models, evaluate accuracy, and visualize results</a:t>
            </a:r>
          </a:p>
          <a:p>
            <a:pPr algn="l">
              <a:lnSpc>
                <a:spcPts val="6191"/>
              </a:lnSpc>
            </a:pPr>
            <a:r>
              <a:rPr lang="en-US" sz="2906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Non-Functional Requirements:</a:t>
            </a:r>
          </a:p>
          <a:p>
            <a:pPr algn="l" marL="627569" indent="-313785" lvl="1">
              <a:lnSpc>
                <a:spcPts val="6191"/>
              </a:lnSpc>
              <a:buFont typeface="Arial"/>
              <a:buChar char="•"/>
            </a:pPr>
            <a:r>
              <a:rPr lang="en-US" b="true" sz="2906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High performance, easy scalability, data privacy, and user-friendly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14921" y="82466"/>
            <a:ext cx="11441812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Development Tools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259300" y="669059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0283" y="-1028700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8" y="0"/>
                </a:lnTo>
                <a:lnTo>
                  <a:pt x="29776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74457" y="1911264"/>
            <a:ext cx="14210547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Developed using Python for data-driven modeling and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7815" y="2619205"/>
            <a:ext cx="16837960" cy="800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2"/>
              </a:lnSpc>
            </a:pPr>
            <a:r>
              <a:rPr lang="en-US" sz="2953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Python:</a:t>
            </a:r>
          </a:p>
          <a:p>
            <a:pPr algn="l" marL="637654" indent="-318827" lvl="1">
              <a:lnSpc>
                <a:spcPts val="4902"/>
              </a:lnSpc>
              <a:buFont typeface="Arial"/>
              <a:buChar char="•"/>
            </a:pPr>
            <a:r>
              <a:rPr lang="en-US" b="true" sz="2953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High-level, open-source programming language used for ML and analytics</a:t>
            </a:r>
          </a:p>
          <a:p>
            <a:pPr algn="l">
              <a:lnSpc>
                <a:spcPts val="4902"/>
              </a:lnSpc>
            </a:pPr>
            <a:r>
              <a:rPr lang="en-US" sz="2953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History of Python:</a:t>
            </a:r>
          </a:p>
          <a:p>
            <a:pPr algn="l" marL="637654" indent="-318827" lvl="1">
              <a:lnSpc>
                <a:spcPts val="4902"/>
              </a:lnSpc>
              <a:buFont typeface="Arial"/>
              <a:buChar char="•"/>
            </a:pPr>
            <a:r>
              <a:rPr lang="en-US" b="true" sz="2953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Created by Guido van Rossum in 1991 — known for readability and simplicity</a:t>
            </a:r>
          </a:p>
          <a:p>
            <a:pPr algn="l">
              <a:lnSpc>
                <a:spcPts val="4902"/>
              </a:lnSpc>
            </a:pPr>
            <a:r>
              <a:rPr lang="en-US" sz="2953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Importance of Python:</a:t>
            </a:r>
          </a:p>
          <a:p>
            <a:pPr algn="l" marL="637654" indent="-318827" lvl="1">
              <a:lnSpc>
                <a:spcPts val="4902"/>
              </a:lnSpc>
              <a:buFont typeface="Arial"/>
              <a:buChar char="•"/>
            </a:pPr>
            <a:r>
              <a:rPr lang="en-US" b="true" sz="2953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Widely used in AI, Data Science, and ML for its powerful libraries and community support</a:t>
            </a:r>
          </a:p>
          <a:p>
            <a:pPr algn="l">
              <a:lnSpc>
                <a:spcPts val="4902"/>
              </a:lnSpc>
            </a:pPr>
            <a:r>
              <a:rPr lang="en-US" sz="2953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VS Code &amp; Jupyter Notebook:</a:t>
            </a:r>
          </a:p>
          <a:p>
            <a:pPr algn="l" marL="637654" indent="-318827" lvl="1">
              <a:lnSpc>
                <a:spcPts val="4902"/>
              </a:lnSpc>
              <a:buFont typeface="Arial"/>
              <a:buChar char="•"/>
            </a:pPr>
            <a:r>
              <a:rPr lang="en-US" b="true" sz="2953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Used for code development, execution, and visualization within an interactive environment</a:t>
            </a:r>
          </a:p>
          <a:p>
            <a:pPr algn="l">
              <a:lnSpc>
                <a:spcPts val="4902"/>
              </a:lnSpc>
            </a:pPr>
            <a:r>
              <a:rPr lang="en-US" sz="2953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Machine Learning Libraries:</a:t>
            </a:r>
          </a:p>
          <a:p>
            <a:pPr algn="l" marL="637654" indent="-318827" lvl="1">
              <a:lnSpc>
                <a:spcPts val="4902"/>
              </a:lnSpc>
              <a:buFont typeface="Arial"/>
              <a:buChar char="•"/>
            </a:pPr>
            <a:r>
              <a:rPr lang="en-US" b="true" sz="2953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scikit-learn, pandas, numpy — for data handling and predictive modeling</a:t>
            </a:r>
          </a:p>
          <a:p>
            <a:pPr algn="l">
              <a:lnSpc>
                <a:spcPts val="4902"/>
              </a:lnSpc>
            </a:pPr>
            <a:r>
              <a:rPr lang="en-US" sz="2953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Data Visualization Tools:</a:t>
            </a:r>
          </a:p>
          <a:p>
            <a:pPr algn="l" marL="637654" indent="-318827" lvl="1">
              <a:lnSpc>
                <a:spcPts val="4902"/>
              </a:lnSpc>
              <a:buFont typeface="Arial"/>
              <a:buChar char="•"/>
            </a:pPr>
            <a:r>
              <a:rPr lang="en-US" b="true" sz="2953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matplotlib, seaborn — to create meaningful and clear graphical insights</a:t>
            </a:r>
          </a:p>
          <a:p>
            <a:pPr algn="l">
              <a:lnSpc>
                <a:spcPts val="490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37752" y="771525"/>
            <a:ext cx="13332655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Performance Analysis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0040" y="5160272"/>
            <a:ext cx="16837960" cy="3675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2"/>
              </a:lnSpc>
            </a:pPr>
            <a:r>
              <a:rPr lang="en-US" sz="2953" b="tru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Results:</a:t>
            </a:r>
          </a:p>
          <a:p>
            <a:pPr algn="l" marL="637654" indent="-318827" lvl="1">
              <a:lnSpc>
                <a:spcPts val="4902"/>
              </a:lnSpc>
              <a:buFont typeface="Arial"/>
              <a:buChar char="•"/>
            </a:pPr>
            <a:r>
              <a:rPr lang="en-US" b="true" sz="2953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Accuracy: ~89%</a:t>
            </a:r>
          </a:p>
          <a:p>
            <a:pPr algn="l" marL="637654" indent="-318827" lvl="1">
              <a:lnSpc>
                <a:spcPts val="4902"/>
              </a:lnSpc>
              <a:buFont typeface="Arial"/>
              <a:buChar char="•"/>
            </a:pPr>
            <a:r>
              <a:rPr lang="en-US" b="true" sz="2953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Precision &amp; Recall: High for both classes (balanced performance)</a:t>
            </a:r>
          </a:p>
          <a:p>
            <a:pPr algn="l" marL="637654" indent="-318827" lvl="1">
              <a:lnSpc>
                <a:spcPts val="4902"/>
              </a:lnSpc>
              <a:buFont typeface="Arial"/>
              <a:buChar char="•"/>
            </a:pPr>
            <a:r>
              <a:rPr lang="en-US" b="true" sz="2953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Confusion Matrix: Shows strong distinction between focused and distracted students</a:t>
            </a:r>
          </a:p>
          <a:p>
            <a:pPr algn="l" marL="637654" indent="-318827" lvl="1">
              <a:lnSpc>
                <a:spcPts val="4902"/>
              </a:lnSpc>
              <a:buFont typeface="Arial"/>
              <a:buChar char="•"/>
            </a:pPr>
            <a:r>
              <a:rPr lang="en-US" b="true" sz="2953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Feature Importance: Screen Time and Social Media Usage were top predictors</a:t>
            </a:r>
          </a:p>
          <a:p>
            <a:pPr algn="l">
              <a:lnSpc>
                <a:spcPts val="490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94347"/>
            <a:ext cx="14593217" cy="12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Random Forest model was trained to classify students as Focused or Distracted based on behavioral data.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99957" y="85726"/>
            <a:ext cx="4979821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Result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479235" y="-2372107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5" y="0"/>
                </a:lnTo>
                <a:lnTo>
                  <a:pt x="6257265" y="3629213"/>
                </a:lnTo>
                <a:lnTo>
                  <a:pt x="0" y="36292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84050" y="-1386478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0147" y="6717836"/>
            <a:ext cx="4899467" cy="2540464"/>
          </a:xfrm>
          <a:custGeom>
            <a:avLst/>
            <a:gdLst/>
            <a:ahLst/>
            <a:cxnLst/>
            <a:rect r="r" b="b" t="t" l="l"/>
            <a:pathLst>
              <a:path h="2540464" w="4899467">
                <a:moveTo>
                  <a:pt x="0" y="0"/>
                </a:moveTo>
                <a:lnTo>
                  <a:pt x="4899467" y="0"/>
                </a:lnTo>
                <a:lnTo>
                  <a:pt x="4899467" y="2540464"/>
                </a:lnTo>
                <a:lnTo>
                  <a:pt x="0" y="25404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78940" y="5812062"/>
            <a:ext cx="10751075" cy="4345741"/>
          </a:xfrm>
          <a:custGeom>
            <a:avLst/>
            <a:gdLst/>
            <a:ahLst/>
            <a:cxnLst/>
            <a:rect r="r" b="b" t="t" l="l"/>
            <a:pathLst>
              <a:path h="4345741" w="10751075">
                <a:moveTo>
                  <a:pt x="0" y="0"/>
                </a:moveTo>
                <a:lnTo>
                  <a:pt x="10751075" y="0"/>
                </a:lnTo>
                <a:lnTo>
                  <a:pt x="10751075" y="4345742"/>
                </a:lnTo>
                <a:lnTo>
                  <a:pt x="0" y="43457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0201" y="1897999"/>
            <a:ext cx="8940978" cy="327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7"/>
              </a:lnSpc>
            </a:pPr>
            <a:r>
              <a:rPr lang="en-US" b="true" sz="2700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 </a:t>
            </a:r>
            <a:r>
              <a:rPr lang="en-US" b="true" sz="2700" strike="noStrik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Summary</a:t>
            </a:r>
          </a:p>
          <a:p>
            <a:pPr algn="just">
              <a:lnSpc>
                <a:spcPts val="3267"/>
              </a:lnSpc>
            </a:pPr>
          </a:p>
          <a:p>
            <a:pPr algn="just" marL="582930" indent="-291465" lvl="1">
              <a:lnSpc>
                <a:spcPts val="3267"/>
              </a:lnSpc>
              <a:buFont typeface="Arial"/>
              <a:buChar char="•"/>
            </a:pPr>
            <a:r>
              <a:rPr lang="en-US" b="true" sz="2700" strike="noStrik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Out of 200 samples, 199 were correctly classified.</a:t>
            </a:r>
          </a:p>
          <a:p>
            <a:pPr algn="just" marL="582930" indent="-291465" lvl="1">
              <a:lnSpc>
                <a:spcPts val="3267"/>
              </a:lnSpc>
              <a:buFont typeface="Arial"/>
              <a:buChar char="•"/>
            </a:pPr>
            <a:r>
              <a:rPr lang="en-US" b="true" sz="2700" strike="noStrik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The model is perfect at classifying Class 0</a:t>
            </a:r>
          </a:p>
          <a:p>
            <a:pPr algn="just" marL="582930" indent="-291465" lvl="1">
              <a:lnSpc>
                <a:spcPts val="3267"/>
              </a:lnSpc>
              <a:buFont typeface="Arial"/>
              <a:buChar char="•"/>
            </a:pPr>
            <a:r>
              <a:rPr lang="en-US" b="true" sz="2700" strike="noStrik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For Class 1, it correctly predicted 24 out of 25 cases, missing just one.</a:t>
            </a:r>
          </a:p>
          <a:p>
            <a:pPr algn="just" marL="582930" indent="-291465" lvl="1">
              <a:lnSpc>
                <a:spcPts val="3267"/>
              </a:lnSpc>
              <a:buFont typeface="Arial"/>
              <a:buChar char="•"/>
            </a:pPr>
            <a:r>
              <a:rPr lang="en-US" b="true" sz="2700" strike="noStrik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Overall, this shows very high accurac</a:t>
            </a:r>
            <a:r>
              <a:rPr lang="en-US" b="true" sz="2700" strike="noStrik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y and reliability.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54538" y="2249190"/>
            <a:ext cx="8318322" cy="28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7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 Summary</a:t>
            </a:r>
          </a:p>
          <a:p>
            <a:pPr algn="just">
              <a:lnSpc>
                <a:spcPts val="3267"/>
              </a:lnSpc>
              <a:spcBef>
                <a:spcPct val="0"/>
              </a:spcBef>
            </a:pPr>
          </a:p>
          <a:p>
            <a:pPr algn="just" marL="582932" indent="-291466" lvl="1">
              <a:lnSpc>
                <a:spcPts val="326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00" strike="noStrike" u="non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The model shows near-perfect classification ability.</a:t>
            </a:r>
          </a:p>
          <a:p>
            <a:pPr algn="just" marL="582932" indent="-291466" lvl="1">
              <a:lnSpc>
                <a:spcPts val="326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00" strike="noStrike" u="non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Class 0 is predicted with perfect recall.</a:t>
            </a:r>
          </a:p>
          <a:p>
            <a:pPr algn="just" marL="582932" indent="-291466" lvl="1">
              <a:lnSpc>
                <a:spcPts val="326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00" strike="noStrike" u="none">
                <a:solidFill>
                  <a:srgbClr val="337271"/>
                </a:solidFill>
                <a:latin typeface="Nunito Bold"/>
                <a:ea typeface="Nunito Bold"/>
                <a:cs typeface="Nunito Bold"/>
                <a:sym typeface="Nunito Bold"/>
              </a:rPr>
              <a:t>Class 1 is predicted with perfect precision, but slightly lower recall due to 1 missed case.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28632" y="-220086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3"/>
                </a:lnTo>
                <a:lnTo>
                  <a:pt x="0" y="36292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19654" y="-2200869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47360" y="2179934"/>
            <a:ext cx="10578692" cy="7722445"/>
          </a:xfrm>
          <a:custGeom>
            <a:avLst/>
            <a:gdLst/>
            <a:ahLst/>
            <a:cxnLst/>
            <a:rect r="r" b="b" t="t" l="l"/>
            <a:pathLst>
              <a:path h="7722445" w="10578692">
                <a:moveTo>
                  <a:pt x="0" y="0"/>
                </a:moveTo>
                <a:lnTo>
                  <a:pt x="10578692" y="0"/>
                </a:lnTo>
                <a:lnTo>
                  <a:pt x="10578692" y="7722445"/>
                </a:lnTo>
                <a:lnTo>
                  <a:pt x="0" y="77224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64179" y="-58124"/>
            <a:ext cx="5430022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Output-1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28632" y="-220086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3"/>
                </a:lnTo>
                <a:lnTo>
                  <a:pt x="0" y="36292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19654" y="-2200869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59383" y="2747582"/>
            <a:ext cx="7765577" cy="6510718"/>
          </a:xfrm>
          <a:custGeom>
            <a:avLst/>
            <a:gdLst/>
            <a:ahLst/>
            <a:cxnLst/>
            <a:rect r="r" b="b" t="t" l="l"/>
            <a:pathLst>
              <a:path h="6510718" w="7765577">
                <a:moveTo>
                  <a:pt x="0" y="0"/>
                </a:moveTo>
                <a:lnTo>
                  <a:pt x="7765577" y="0"/>
                </a:lnTo>
                <a:lnTo>
                  <a:pt x="7765577" y="6510718"/>
                </a:lnTo>
                <a:lnTo>
                  <a:pt x="0" y="65107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21749" y="-58124"/>
            <a:ext cx="6195363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Output-2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28632" y="-220086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3"/>
                </a:lnTo>
                <a:lnTo>
                  <a:pt x="0" y="36292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19654" y="-2200869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09953" y="2049331"/>
            <a:ext cx="9837813" cy="7854998"/>
          </a:xfrm>
          <a:custGeom>
            <a:avLst/>
            <a:gdLst/>
            <a:ahLst/>
            <a:cxnLst/>
            <a:rect r="r" b="b" t="t" l="l"/>
            <a:pathLst>
              <a:path h="7854998" w="9837813">
                <a:moveTo>
                  <a:pt x="0" y="0"/>
                </a:moveTo>
                <a:lnTo>
                  <a:pt x="9837813" y="0"/>
                </a:lnTo>
                <a:lnTo>
                  <a:pt x="9837813" y="7854998"/>
                </a:lnTo>
                <a:lnTo>
                  <a:pt x="0" y="78549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64179" y="-58124"/>
            <a:ext cx="5970263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Output-3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96206" y="2199700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3412" y="4158103"/>
            <a:ext cx="17266437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The project successfully predicts student distraction levels using mobile usage data</a:t>
            </a:r>
          </a:p>
          <a:p>
            <a:pPr algn="l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Random Forest and Logistic Regression models delivered strong and interpretable results</a:t>
            </a:r>
          </a:p>
          <a:p>
            <a:pPr algn="l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Key factors influencing distraction include screen time, social media usage, and notifications</a:t>
            </a:r>
          </a:p>
          <a:p>
            <a:pPr algn="l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The insights can help students improve focus and institutions promote digital wellness</a:t>
            </a:r>
          </a:p>
          <a:p>
            <a:pPr algn="l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Demonstrates the power of data-driven analysis in understanding behavioral patterns</a:t>
            </a:r>
          </a:p>
          <a:p>
            <a:pPr algn="l">
              <a:lnSpc>
                <a:spcPts val="57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5825110" y="8434828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46982" y="1028700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5"/>
                </a:lnTo>
                <a:lnTo>
                  <a:pt x="0" y="1646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73295" y="1154196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Bibliography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06006" y="9057766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12261" y="3536562"/>
            <a:ext cx="15690734" cy="500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Scikit-learn Documentation – </a:t>
            </a:r>
            <a:r>
              <a:rPr lang="en-US" sz="3000" u="sng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  <a:hlinkClick r:id="rId7" tooltip="https://scikit-learn.org"/>
              </a:rPr>
              <a:t>https://scikit-learn.org/</a:t>
            </a:r>
          </a:p>
          <a:p>
            <a:pPr algn="l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Pandas Documentation – </a:t>
            </a:r>
            <a:r>
              <a:rPr lang="en-US" sz="3000" u="sng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  <a:hlinkClick r:id="rId8" tooltip="https://pandas.pydata.org"/>
              </a:rPr>
              <a:t>https://pandas.pydata.org/</a:t>
            </a:r>
          </a:p>
          <a:p>
            <a:pPr algn="l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Matplotlib Documentation – </a:t>
            </a:r>
            <a:r>
              <a:rPr lang="en-US" sz="3000" u="sng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  <a:hlinkClick r:id="rId9" tooltip="https://matplotlib.org"/>
              </a:rPr>
              <a:t>https://matplotlib.org/</a:t>
            </a:r>
          </a:p>
          <a:p>
            <a:pPr algn="l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Kaggle Datasets – </a:t>
            </a:r>
            <a:r>
              <a:rPr lang="en-US" sz="3000" u="sng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  <a:hlinkClick r:id="rId10" tooltip="https://www.kaggle.com"/>
              </a:rPr>
              <a:t>https://www.kaggle.com/</a:t>
            </a:r>
          </a:p>
          <a:p>
            <a:pPr algn="l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Towards Data Science Articles on Machine Learning</a:t>
            </a:r>
          </a:p>
          <a:p>
            <a:pPr algn="l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Research papers on Digital Distraction &amp; Student Focus Analysis</a:t>
            </a:r>
          </a:p>
          <a:p>
            <a:pPr algn="l">
              <a:lnSpc>
                <a:spcPts val="57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96206" y="4200526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Q&amp;A Session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465442">
            <a:off x="15105791" y="245822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62311" y="8487580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37417">
            <a:off x="1699513" y="6606455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700" y="0"/>
                </a:lnTo>
                <a:lnTo>
                  <a:pt x="3549700" y="2562237"/>
                </a:lnTo>
                <a:lnTo>
                  <a:pt x="0" y="25622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65218" y="3200400"/>
            <a:ext cx="8695587" cy="403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13599" y="8312420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8246">
            <a:off x="3423654" y="3579497"/>
            <a:ext cx="4333509" cy="3128006"/>
          </a:xfrm>
          <a:custGeom>
            <a:avLst/>
            <a:gdLst/>
            <a:ahLst/>
            <a:cxnLst/>
            <a:rect r="r" b="b" t="t" l="l"/>
            <a:pathLst>
              <a:path h="3128006" w="4333509">
                <a:moveTo>
                  <a:pt x="0" y="0"/>
                </a:moveTo>
                <a:lnTo>
                  <a:pt x="4333509" y="0"/>
                </a:lnTo>
                <a:lnTo>
                  <a:pt x="4333509" y="3128006"/>
                </a:lnTo>
                <a:lnTo>
                  <a:pt x="0" y="31280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049707" y="7997445"/>
            <a:ext cx="962452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 by Karthik raja 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DAG4GT8QhwE</dc:identifier>
  <dcterms:modified xsi:type="dcterms:W3CDTF">2011-08-01T06:04:30Z</dcterms:modified>
  <cp:revision>1</cp:revision>
  <dc:title>Green and Beige Simple Project Presentation</dc:title>
</cp:coreProperties>
</file>